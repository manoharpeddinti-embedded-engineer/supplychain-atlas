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6531520f44770" /><Relationship Type="http://schemas.openxmlformats.org/officeDocument/2006/relationships/extended-properties" Target="/docProps/app.xml" Id="Rbc1b7d6b21a04468" /><Relationship Type="http://schemas.openxmlformats.org/officeDocument/2006/relationships/officeDocument" Target="/ppt/presentation.xml" Id="Raf4f4fcfffb5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97fbe913b401c"/>
  </p:sldMasterIdLst>
  <p:notesMasterIdLst>
    <p:notesMasterId xmlns:r="http://schemas.openxmlformats.org/officeDocument/2006/relationships" r:id="R8bf5369102bb4cff"/>
  </p:notesMasterIdLst>
  <p:sldIdLst>
    <p:sldId xmlns:r="http://schemas.openxmlformats.org/officeDocument/2006/relationships" id="256" r:id="R9529b82c6ab0468c"/>
    <p:sldId xmlns:r="http://schemas.openxmlformats.org/officeDocument/2006/relationships" id="257" r:id="R587d8a2be67a4556"/>
    <p:sldId xmlns:r="http://schemas.openxmlformats.org/officeDocument/2006/relationships" id="258" r:id="R726763d092b74dc7"/>
    <p:sldId xmlns:r="http://schemas.openxmlformats.org/officeDocument/2006/relationships" id="259" r:id="R1263bbe3782f4690"/>
    <p:sldId xmlns:r="http://schemas.openxmlformats.org/officeDocument/2006/relationships" id="260" r:id="Rfe69644006694e84"/>
    <p:sldId xmlns:r="http://schemas.openxmlformats.org/officeDocument/2006/relationships" id="261" r:id="Rdde0b7ab0a61443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184776e0645d4" /><Relationship Type="http://schemas.openxmlformats.org/officeDocument/2006/relationships/slideMaster" Target="/ppt/slideMasters/slideMaster1.xml" Id="Rc3897fbe913b401c" /><Relationship Type="http://schemas.openxmlformats.org/officeDocument/2006/relationships/notesMaster" Target="/ppt/notesMasters/notesMaster1.xml" Id="R8bf5369102bb4cff" /><Relationship Type="http://schemas.openxmlformats.org/officeDocument/2006/relationships/presProps" Target="/ppt/presProps.xml" Id="R72c251f45d274282" /><Relationship Type="http://schemas.openxmlformats.org/officeDocument/2006/relationships/viewProps" Target="/ppt/viewProps.xml" Id="R2daf02bdaf6a45d8" /><Relationship Type="http://schemas.openxmlformats.org/officeDocument/2006/relationships/tableStyles" Target="/ppt/tableStyles.xml" Id="R97320b1de340441d" /><Relationship Type="http://schemas.openxmlformats.org/officeDocument/2006/relationships/slide" Target="/ppt/slides/slide1.xml" Id="R9529b82c6ab0468c" /><Relationship Type="http://schemas.openxmlformats.org/officeDocument/2006/relationships/slide" Target="/ppt/slides/slide2.xml" Id="R587d8a2be67a4556" /><Relationship Type="http://schemas.openxmlformats.org/officeDocument/2006/relationships/slide" Target="/ppt/slides/slide3.xml" Id="R726763d092b74dc7" /><Relationship Type="http://schemas.openxmlformats.org/officeDocument/2006/relationships/slide" Target="/ppt/slides/slide4.xml" Id="R1263bbe3782f4690" /><Relationship Type="http://schemas.openxmlformats.org/officeDocument/2006/relationships/slide" Target="/ppt/slides/slide5.xml" Id="Rfe69644006694e84" /><Relationship Type="http://schemas.openxmlformats.org/officeDocument/2006/relationships/slide" Target="/ppt/slides/slide6.xml" Id="Rdde0b7ab0a61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6aa51f4764e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4be4080bb4bde" /><Relationship Type="http://schemas.openxmlformats.org/officeDocument/2006/relationships/notesMaster" Target="/ppt/notesMasters/notesMaster1.xml" Id="Ra379dd67a6ea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1ba00c97ed4a70" /><Relationship Type="http://schemas.openxmlformats.org/officeDocument/2006/relationships/notesMaster" Target="/ppt/notesMasters/notesMaster1.xml" Id="Rbb46b3ddfc30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27115a53046b5" /><Relationship Type="http://schemas.openxmlformats.org/officeDocument/2006/relationships/notesMaster" Target="/ppt/notesMasters/notesMaster1.xml" Id="R3e4f9ca41e3844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c0d33fe3584727" /><Relationship Type="http://schemas.openxmlformats.org/officeDocument/2006/relationships/notesMaster" Target="/ppt/notesMasters/notesMaster1.xml" Id="R46f0adce9a8641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628a97d5ac452d" /><Relationship Type="http://schemas.openxmlformats.org/officeDocument/2006/relationships/notesMaster" Target="/ppt/notesMasters/notesMaster1.xml" Id="Rc0cb64abcc1d42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8ee68e9d2c4178" /><Relationship Type="http://schemas.openxmlformats.org/officeDocument/2006/relationships/notesMaster" Target="/ppt/notesMasters/notesMaster1.xml" Id="Re3d53feacb23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897fb131d4b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bcb9feea84a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a82abe6524d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b9bb1ff3244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26b3124cc4d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d2befb53e46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89b9fd75f41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86d03982348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55b8a353e42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4210028be41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0664a05644232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983911E-4EDD-4A52-AB9F-DA85D4D2D4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FBAC9371-FCB1-49FA-964E-1EB5018F0D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82391DFF-2AAA-4B8A-AC20-84C8CB7B15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0BE51F7-4CA5-4096-A218-EFF7A4B33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CF50031A-87B1-4326-9FD4-D0CFB7EC5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AC26771-7DC1-4C3E-8756-8D9E7D2292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7993ADA5-49C3-4424-BE3C-ACA7DDE5C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F179A7AC-EBCE-4CC7-8E36-0008030023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F0DF455F-F11B-403E-8D57-529F1B6099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91266092-F94F-444E-B5BD-2ECF04AEB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5D449E3A-6F83-46C8-9824-71DC57D36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6">
            <a:extLst xmlns:a="http://schemas.openxmlformats.org/drawingml/2006/main">
              <a:ext uri="{FF2B5EF4-FFF2-40B4-BE49-F238E27FC236}">
                <a16:creationId xmlns:a16="http://schemas.microsoft.com/office/drawing/2014/main" id="{EED8DD56-6D62-4D3B-87BD-3079D86712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CB1700E2-C643-4EB7-8086-91B7A435A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7">
            <a:extLst xmlns:a="http://schemas.openxmlformats.org/drawingml/2006/main">
              <a:ext uri="{FF2B5EF4-FFF2-40B4-BE49-F238E27FC236}">
                <a16:creationId xmlns:a16="http://schemas.microsoft.com/office/drawing/2014/main" id="{5BC11F18-51EE-43FB-8E55-6FBD6A628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13F31586-1196-4D11-9885-8239A67295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8">
            <a:extLst xmlns:a="http://schemas.openxmlformats.org/drawingml/2006/main">
              <a:ext uri="{FF2B5EF4-FFF2-40B4-BE49-F238E27FC236}">
                <a16:creationId xmlns:a16="http://schemas.microsoft.com/office/drawing/2014/main" id="{CC8409DB-132A-4FD0-99D1-A250EA74E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2" name="Google Shape;32;p8">
            <a:extLst xmlns:a="http://schemas.openxmlformats.org/drawingml/2006/main">
              <a:ext uri="{FF2B5EF4-FFF2-40B4-BE49-F238E27FC236}">
                <a16:creationId xmlns:a16="http://schemas.microsoft.com/office/drawing/2014/main" id="{DF752AA4-20E2-4671-A2B7-65049B9595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528802C9-1803-4712-BE9E-8354BC46F9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43021718-CC8C-42E9-9F5A-0F53D4A77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F6E93F2-C7A6-43DC-8471-01370A39E2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86AD80CB-399B-4BD1-AE85-136650F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7BDB37FB-DE79-4D5C-BDBA-BFDF26AE9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50337609-3B27-4E6F-8080-3D45B075E4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092AF5E7-A1ED-4A57-9240-403B899BCD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0900E0F4-CE77-48BB-9B78-7E0F32FB3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F4ED1CB4-ACC1-4D52-AAA7-E945EB38B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EAC449B2-F912-4FFF-9D9F-316EACF927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2">
            <a:extLst xmlns:a="http://schemas.openxmlformats.org/drawingml/2006/main">
              <a:ext uri="{FF2B5EF4-FFF2-40B4-BE49-F238E27FC236}">
                <a16:creationId xmlns:a16="http://schemas.microsoft.com/office/drawing/2014/main" id="{23A628ED-16F7-4FFC-AB02-6D154638697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03671084-6CAC-4502-93FB-AE0C142DD1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1BAE9FE5-D3B8-48C3-B57C-071842E03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0028224984a90" /><Relationship Type="http://schemas.openxmlformats.org/officeDocument/2006/relationships/slideLayout" Target="/ppt/slideLayouts/slideLayout1.xml" Id="Rd8dd16be5adf4f80" /><Relationship Type="http://schemas.openxmlformats.org/officeDocument/2006/relationships/slideLayout" Target="/ppt/slideLayouts/slideLayout2.xml" Id="R6d512b29719c4e2a" /><Relationship Type="http://schemas.openxmlformats.org/officeDocument/2006/relationships/slideLayout" Target="/ppt/slideLayouts/slideLayout3.xml" Id="Rb41280b3c1174c84" /><Relationship Type="http://schemas.openxmlformats.org/officeDocument/2006/relationships/slideLayout" Target="/ppt/slideLayouts/slideLayout4.xml" Id="Rcd0672488b964e79" /><Relationship Type="http://schemas.openxmlformats.org/officeDocument/2006/relationships/slideLayout" Target="/ppt/slideLayouts/slideLayout5.xml" Id="R8d27ce0041f64bdc" /><Relationship Type="http://schemas.openxmlformats.org/officeDocument/2006/relationships/slideLayout" Target="/ppt/slideLayouts/slideLayout6.xml" Id="R0ab6b52360fd40d5" /><Relationship Type="http://schemas.openxmlformats.org/officeDocument/2006/relationships/slideLayout" Target="/ppt/slideLayouts/slideLayout7.xml" Id="Rb9c72d02aec34bc4" /><Relationship Type="http://schemas.openxmlformats.org/officeDocument/2006/relationships/slideLayout" Target="/ppt/slideLayouts/slideLayout8.xml" Id="R59677accc8c04aa9" /><Relationship Type="http://schemas.openxmlformats.org/officeDocument/2006/relationships/slideLayout" Target="/ppt/slideLayouts/slideLayout9.xml" Id="R482b5d5ec8a34873" /><Relationship Type="http://schemas.openxmlformats.org/officeDocument/2006/relationships/slideLayout" Target="/ppt/slideLayouts/slideLayout10.xml" Id="Rf1b081cbff2f4141" /><Relationship Type="http://schemas.openxmlformats.org/officeDocument/2006/relationships/slideLayout" Target="/ppt/slideLayouts/slideLayout11.xml" Id="R88c6f2ca36174241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9C0E71D-39D2-4BBD-881E-2F6591F1A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044BCB1-24AB-4D9D-92F8-2662059B2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F87B9B6-171C-4B0F-9FD7-32A55CC848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d16be5adf4f80"/>
    <p:sldLayoutId xmlns:r="http://schemas.openxmlformats.org/officeDocument/2006/relationships" id="2147483650" r:id="R6d512b29719c4e2a"/>
    <p:sldLayoutId xmlns:r="http://schemas.openxmlformats.org/officeDocument/2006/relationships" id="2147483651" r:id="Rb41280b3c1174c84"/>
    <p:sldLayoutId xmlns:r="http://schemas.openxmlformats.org/officeDocument/2006/relationships" id="2147483652" r:id="Rcd0672488b964e79"/>
    <p:sldLayoutId xmlns:r="http://schemas.openxmlformats.org/officeDocument/2006/relationships" id="2147483653" r:id="R8d27ce0041f64bdc"/>
    <p:sldLayoutId xmlns:r="http://schemas.openxmlformats.org/officeDocument/2006/relationships" id="2147483654" r:id="R0ab6b52360fd40d5"/>
    <p:sldLayoutId xmlns:r="http://schemas.openxmlformats.org/officeDocument/2006/relationships" id="2147483655" r:id="Rb9c72d02aec34bc4"/>
    <p:sldLayoutId xmlns:r="http://schemas.openxmlformats.org/officeDocument/2006/relationships" id="2147483656" r:id="R59677accc8c04aa9"/>
    <p:sldLayoutId xmlns:r="http://schemas.openxmlformats.org/officeDocument/2006/relationships" id="2147483657" r:id="R482b5d5ec8a34873"/>
    <p:sldLayoutId xmlns:r="http://schemas.openxmlformats.org/officeDocument/2006/relationships" id="2147483658" r:id="Rf1b081cbff2f4141"/>
    <p:sldLayoutId xmlns:r="http://schemas.openxmlformats.org/officeDocument/2006/relationships" id="2147483659" r:id="R88c6f2ca3617424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292050afd45d4" /><Relationship Type="http://schemas.openxmlformats.org/officeDocument/2006/relationships/image" Target="/ppt/media/image.png" Id="R2de1d3a3126c41e2" /><Relationship Type="http://schemas.openxmlformats.org/officeDocument/2006/relationships/notesSlide" Target="/ppt/notesSlides/notesSlide1.xml" Id="R2e1ece7f226942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e9b31cc514fb8" /><Relationship Type="http://schemas.openxmlformats.org/officeDocument/2006/relationships/image" Target="/ppt/media/image2.png" Id="R16a999c539494d2c" /><Relationship Type="http://schemas.openxmlformats.org/officeDocument/2006/relationships/notesSlide" Target="/ppt/notesSlides/notesSlide2.xml" Id="R4708360179da4a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34f9088f04d3c" /><Relationship Type="http://schemas.openxmlformats.org/officeDocument/2006/relationships/image" Target="/ppt/media/image2.png" Id="R9f54bfc39aab49b1" /><Relationship Type="http://schemas.openxmlformats.org/officeDocument/2006/relationships/notesSlide" Target="/ppt/notesSlides/notesSlide3.xml" Id="Rb6b105c6fef34f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41e7f5e984a82" /><Relationship Type="http://schemas.openxmlformats.org/officeDocument/2006/relationships/image" Target="/ppt/media/image2.png" Id="Rff4a3a8eba244a66" /><Relationship Type="http://schemas.openxmlformats.org/officeDocument/2006/relationships/notesSlide" Target="/ppt/notesSlides/notesSlide4.xml" Id="R1d4c4fa09b7e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7eda614b344a6" /><Relationship Type="http://schemas.openxmlformats.org/officeDocument/2006/relationships/image" Target="/ppt/media/image2.png" Id="R487149b04a7c40aa" /><Relationship Type="http://schemas.openxmlformats.org/officeDocument/2006/relationships/notesSlide" Target="/ppt/notesSlides/notesSlide5.xml" Id="R363953ce181143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af39f7212462a" /><Relationship Type="http://schemas.openxmlformats.org/officeDocument/2006/relationships/image" Target="/ppt/media/image3.png" Id="R756380c0638341a0" /><Relationship Type="http://schemas.openxmlformats.org/officeDocument/2006/relationships/notesSlide" Target="/ppt/notesSlides/notesSlide6.xml" Id="R82a6b86c6d574b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5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e1d3a3126c41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5C3121FB-B047-42DD-806D-D81F22C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8" y="3192600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Name: SupplyChain Atlas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616DA523-2CC9-45DA-8D76-748A557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42501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Problem Statement: Supply Chain Ontology and Governed Conversational Analytics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4822A1BD-3514-4BA4-B471-40A79B8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8" y="3534656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Leader: Manohar Peddinti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25110AE6-DDDC-45DA-B8AA-D287E8E3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39072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Size: 1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66985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6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a999c539494d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F9A7E2BC-B9DB-471E-B447-788AC7C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00" y="600420"/>
            <a:ext cx="8485800" cy="429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700" b="1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SupplyChain Atlas</a:t>
            </a:r>
            <a:endParaRPr sz="1442" b="1" i="1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700" b="1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1700" b="1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Problem brief</a:t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Operations teams receive carrier delays, IoT sensor alerts, supplier reliability signals, and customer commitments in separate systems. They cannot quickly trace a disruption to business exposure or defend the response.</a:t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Target user</a:t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700" b="1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Supply-chain control-tower managers, planners, supplier managers, and operations leaders.</a:t>
            </a:r>
            <a:endParaRPr sz="1700" b="1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Solution</a:t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914400" marR="0" lvl="0" indent="-3122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sz="1700" b="0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Atlas joins suppliers, plants, parts, purchase orders, shipments, sensor events, and customer orders in governed Snowflake views. It ranks risk, quantifies customer revenue exposure, rehearses recovery, and retains decision evidence.</a:t>
            </a:r>
            <a:endParaRPr sz="1700" b="0" i="0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8762510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54bfc39aab49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821D8-F65F-4946-A400-9ED1CD25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2D"/>
                </a:solidFill>
              </a:defRPr>
            </a:pPr>
            <a:r>
              <a:rPr sz="2250" b="1">
                <a:solidFill>
                  <a:srgbClr val="071A2D"/>
                </a:solidFill>
              </a:rPr>
              <a:t>Architecture and governed data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AED0-7283-4639-9F15-628D5CB8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6E4"/>
                </a:solidFill>
              </a:defRPr>
            </a:pPr>
            <a:r>
              <a:rPr sz="1350" b="1">
                <a:solidFill>
                  <a:srgbClr val="0B66E4"/>
                </a:solidFill>
              </a:rPr>
              <a:t>Operational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CEF5C-14D3-429F-8A4D-75A5185C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Suppliers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Plants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Parts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Purchase orders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Shipments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Sensor events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Customer orders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BF1C1-2DB3-46A3-B575-D8866104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6E4"/>
                </a:solidFill>
              </a:defRPr>
            </a:pPr>
            <a:r>
              <a:rPr sz="1350" b="1">
                <a:solidFill>
                  <a:srgbClr val="0B66E4"/>
                </a:solidFill>
              </a:rPr>
              <a:t>Snowflake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D7003-8998-41F9-B283-5265CBF3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Core tables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Snowpark risk pipeline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SHIPMENT_RISK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Governed V_CONTROL_TOWER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7AFE6-269B-4D55-A729-15FA283B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3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66E4"/>
                </a:solidFill>
              </a:defRPr>
            </a:pPr>
            <a:r>
              <a:rPr sz="1350" b="1">
                <a:solidFill>
                  <a:srgbClr val="0B66E4"/>
                </a:solidFill>
              </a:rPr>
              <a:t>Decision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1BB07-4E12-4653-BB3B-604AB5C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Streamlit command center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What-if Lab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Decision Receipt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Trust Center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CoCo-assisted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BEB26-3539-44C5-B392-37E636B0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A974"/>
                </a:solidFill>
              </a:defRPr>
            </a:pPr>
            <a:r>
              <a:rPr sz="1350" b="1">
                <a:solidFill>
                  <a:srgbClr val="19A974"/>
                </a:solidFill>
              </a:rPr>
              <a:t>120 synthetic shipments, 10 critical disruptions, 32 high-risk disruptions, and governed exposure analysis.</a:t>
            </a:r>
          </a:p>
        </p:txBody>
      </p:sp>
    </p:spTree>
    <p:extLst>
      <p:ext uri="{BB962C8B-B14F-4D97-AF65-F5344CB8AC3E}">
        <p14:creationId xmlns:p14="http://schemas.microsoft.com/office/powerpoint/2010/main" val="284833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oogle Shape;7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4a3a8eba244a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A341-3F59-44F6-9B98-AE90F9F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2D"/>
                </a:solidFill>
              </a:defRPr>
            </a:pPr>
            <a:r>
              <a:rPr sz="2250" b="1">
                <a:solidFill>
                  <a:srgbClr val="071A2D"/>
                </a:solidFill>
              </a:rPr>
              <a:t>CoCo workflow and working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3AFB5-C92B-49BB-8758-8F1F0D64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66E4"/>
                </a:solidFill>
              </a:defRPr>
            </a:pPr>
            <a:r>
              <a:rPr sz="1425" b="1">
                <a:solidFill>
                  <a:srgbClr val="0B66E4"/>
                </a:solidFill>
              </a:rPr>
              <a:t>1. Governed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D438D-F7D8-4DEA-B8A9-F45CAAE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19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CoCo queries V_CONTROL_TOWER for the highest-risk shipment and cites operational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0E1CF-70C7-46F7-AD64-90DE4A6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38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66E4"/>
                </a:solidFill>
              </a:defRPr>
            </a:pPr>
            <a:r>
              <a:rPr sz="1425" b="1">
                <a:solidFill>
                  <a:srgbClr val="0B66E4"/>
                </a:solidFill>
              </a:rPr>
              <a:t>2. Transparent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F7F7E-E8A3-47C1-82BD-ADCB79E4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219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Snowpark combines delay, sensor condition, and supplier reliability into an explainable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DD364-549B-4CF2-B7D2-E6AD3A4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38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66E4"/>
                </a:solidFill>
              </a:defRPr>
            </a:pPr>
            <a:r>
              <a:rPr sz="1425" b="1">
                <a:solidFill>
                  <a:srgbClr val="0B66E4"/>
                </a:solidFill>
              </a:rPr>
              <a:t>3. Actionable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D636F-C999-4AD4-A1E3-CC14A36E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219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The app prioritizes the disruption, simulates carrier recovery, and creates an auditable Decision Receipt.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50CBE-F08E-4BC7-96EF-E379D0A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A974"/>
                </a:solidFill>
              </a:defRPr>
            </a:pPr>
            <a:r>
              <a:rPr sz="1425" b="1">
                <a:solidFill>
                  <a:srgbClr val="19A974"/>
                </a:solidFill>
              </a:rPr>
              <a:t>Recorded demo: CoCo analysis, Command Center, What-if Lab, and Decision Receipt.</a:t>
            </a:r>
          </a:p>
        </p:txBody>
      </p:sp>
    </p:spTree>
    <p:extLst>
      <p:ext uri="{BB962C8B-B14F-4D97-AF65-F5344CB8AC3E}">
        <p14:creationId xmlns:p14="http://schemas.microsoft.com/office/powerpoint/2010/main" val="20352442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8" name="Google Shape;7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7149b04a7c40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F4AAD807-4BE0-4456-BDC3-C6B8938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0" y="4478850"/>
            <a:ext cx="8512200" cy="53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900" b="1" i="1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>Impact and evaluation</a:t>
            </a:r>
            <a:endParaRPr sz="600" b="0" i="1" u="none" cap="none">
              <a:solidFill>
                <a:srgbClr val="434343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1253B8-614B-4156-A6FD-ED503386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66E4"/>
                </a:solidFill>
              </a:defRPr>
            </a:pPr>
            <a:r>
              <a:rPr sz="1575" b="1">
                <a:solidFill>
                  <a:srgbClr val="0B66E4"/>
                </a:solidFill>
              </a:rPr>
              <a:t>Measured scenario impact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E8EAFF-3C8F-4D66-97CC-546AE17A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190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USD 541.76M revenue exposed</a:t>
            </a:r>
          </a:p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10 critical shipments</a:t>
            </a:r>
          </a:p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32 high-risk shipments</a:t>
            </a:r>
          </a:p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100% evidence coverage shown in the app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74C665-9497-490E-B397-AF719145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95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66E4"/>
                </a:solidFill>
              </a:defRPr>
            </a:pPr>
            <a:r>
              <a:rPr sz="1575" b="1">
                <a:solidFill>
                  <a:srgbClr val="0B66E4"/>
                </a:solidFill>
              </a:rPr>
              <a:t>Operational outcome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443B8B-E12D-4F20-A7E2-98395F2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Prioritize recovery work by business impact.</a:t>
            </a:r>
          </a:p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Test recovered carrier days before intervention.</a:t>
            </a:r>
          </a:p>
          <a:p xmlns:a="http://schemas.openxmlformats.org/drawingml/2006/main">
            <a:pPr>
              <a:defRPr sz="1275" b="0">
                <a:solidFill>
                  <a:srgbClr val="40566F"/>
                </a:solidFill>
              </a:defRPr>
            </a:pPr>
            <a:r>
              <a:rPr sz="1275" b="0">
                <a:solidFill>
                  <a:srgbClr val="40566F"/>
                </a:solidFill>
              </a:rPr>
              <a:t>Provide sources and logic for review.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845E8D-076E-4207-A57B-77296C6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66E4"/>
                </a:solidFill>
              </a:defRPr>
            </a:pPr>
            <a:r>
              <a:rPr sz="1575" b="1">
                <a:solidFill>
                  <a:srgbClr val="0B66E4"/>
                </a:solidFill>
              </a:rPr>
              <a:t>Scalability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6B6F822-1F89-4B82-A930-FBBA42C1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The ontology can ingest live carrier, IoT, supplier, inventory, and order feeds while keeping data access and decision logic governed in Snowflake.</a:t>
            </a:r>
          </a:p>
        </p:txBody>
      </p:sp>
    </p:spTree>
    <p:extLst>
      <p:ext uri="{BB962C8B-B14F-4D97-AF65-F5344CB8AC3E}">
        <p14:creationId xmlns:p14="http://schemas.microsoft.com/office/powerpoint/2010/main" val="1243996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oogle Shape;8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6380c0638341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43E1-91CE-4834-A164-3442E586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2D"/>
                </a:solidFill>
              </a:defRPr>
            </a:pPr>
            <a:r>
              <a:rPr sz="2250" b="1">
                <a:solidFill>
                  <a:srgbClr val="071A2D"/>
                </a:solidFill>
              </a:rPr>
              <a:t>Delivery, governance,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92D43-A18D-440E-9F91-A1ABC47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66E4"/>
                </a:solidFill>
              </a:defRPr>
            </a:pPr>
            <a:r>
              <a:rPr sz="1500" b="1">
                <a:solidFill>
                  <a:srgbClr val="0B66E4"/>
                </a:solidFill>
              </a:rPr>
              <a:t>Delivered assets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1D28B-3B8F-41AF-9411-2BF943F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Public GitHub repository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SQL setup and governance views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Synthetic data generator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Snowpark risk pipeline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Semantic model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Live Streamlit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55429-464B-4398-A99E-33678541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66E4"/>
                </a:solidFill>
              </a:defRPr>
            </a:pPr>
            <a:r>
              <a:rPr sz="1500" b="1">
                <a:solidFill>
                  <a:srgbClr val="0B66E4"/>
                </a:solidFill>
              </a:rPr>
              <a:t>Trust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1364A-DAFA-4778-B91F-9EF2690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Synthetic data only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Transparent risk factors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Governed V_CONTROL_TOWER evidence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Decision receipt for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D0EBB-9B9E-4641-8EE8-BB3A549F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66E4"/>
                </a:solidFill>
              </a:defRPr>
            </a:pPr>
            <a:r>
              <a:rPr sz="1500" b="1">
                <a:solidFill>
                  <a:srgbClr val="0B66E4"/>
                </a:solidFill>
              </a:rPr>
              <a:t>Live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AA0F5-23AA-4B8C-B26F-96DC2014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180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SUPPLYCHAIN_ATLAS.CORE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Warehouse: SUPPLYCHAIN_HACK_WH</a:t>
            </a:r>
          </a:p>
          <a:p xmlns:a="http://schemas.openxmlformats.org/drawingml/2006/main">
            <a:pPr>
              <a:defRPr sz="1200" b="0">
                <a:solidFill>
                  <a:srgbClr val="40566F"/>
                </a:solidFill>
              </a:defRPr>
            </a:pPr>
            <a:r>
              <a:rPr sz="1200" b="0">
                <a:solidFill>
                  <a:srgbClr val="40566F"/>
                </a:solidFill>
              </a:rPr>
              <a:t>Streamlit: SUPPLYCHAIN_ATLAS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944E1-1F6C-4E26-B2CD-291525B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A974"/>
                </a:solidFill>
              </a:defRPr>
            </a:pPr>
            <a:r>
              <a:rPr sz="1425" b="1">
                <a:solidFill>
                  <a:srgbClr val="19A974"/>
                </a:solidFill>
              </a:rPr>
              <a:t>SupplyChain Atlas gives operators a traceable path from disruption signal to recovery decision.</a:t>
            </a:r>
          </a:p>
        </p:txBody>
      </p:sp>
    </p:spTree>
    <p:extLst>
      <p:ext uri="{BB962C8B-B14F-4D97-AF65-F5344CB8AC3E}">
        <p14:creationId xmlns:p14="http://schemas.microsoft.com/office/powerpoint/2010/main" val="874461454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2026-09-26T14:48:06.8580000Z</dcterms:created>
  <dcterms:modified xsi:type="dcterms:W3CDTF">2026-09-26T14:48:06.8580000Z</dcterms:modified>
</coreProperties>
</file>